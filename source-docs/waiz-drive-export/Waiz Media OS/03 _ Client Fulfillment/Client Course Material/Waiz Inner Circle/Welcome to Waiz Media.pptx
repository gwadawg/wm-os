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onp7R8W6OsyXdqCoLQsaH4KXV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E3A6E">
              <a:alpha val="30196"/>
            </a:srgbClr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411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8973A"/>
                </a:solidFill>
                <a:latin typeface="Arial"/>
                <a:ea typeface="Arial"/>
                <a:cs typeface="Arial"/>
                <a:sym typeface="Arial"/>
              </a:rPr>
              <a:t>WAIZ MEDIA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96012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Welcome to </a:t>
            </a:r>
            <a:endParaRPr b="1" i="0" sz="5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lang="en-US" sz="5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Waiz Media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23774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365760" y="3063240"/>
            <a:ext cx="3200400" cy="0"/>
          </a:xfrm>
          <a:prstGeom prst="straightConnector1">
            <a:avLst/>
          </a:prstGeom>
          <a:noFill/>
          <a:ln cap="flat" cmpd="sng" w="1905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365760" y="32918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Client Onboarding  ·  Module 1  ·  Start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498080" y="46634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20040" y="9144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8973A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05840" y="16459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How I got here to begin with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1005840"/>
            <a:ext cx="73152" cy="347472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02920" y="1005840"/>
            <a:ext cx="530352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85800" y="11430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Started in mortgages at 19.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Licensed, joined retail, became a top producer.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17830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B3A6B"/>
                </a:solidFill>
              </a:rPr>
              <a:t>Grew through Systems </a:t>
            </a:r>
            <a:r>
              <a:rPr b="1" i="0" lang="en-US" sz="14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Marketing. Systems. Building things that run.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24231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Built an agency for forward loans —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then a reverse LO walked in. Everything changed.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30632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Core value: Focus.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Hyper-niched. Really good at one thing.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3703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$1M+ in ad spend managed.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Creatives, funnels, follow-up sequences — all tested.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17920" y="1005840"/>
            <a:ext cx="2606040" cy="34747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17920" y="13716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C8973A"/>
                </a:solidFill>
                <a:latin typeface="Arial Black"/>
                <a:ea typeface="Arial Black"/>
                <a:cs typeface="Arial Black"/>
                <a:sym typeface="Arial Black"/>
              </a:rPr>
              <a:t>$1M+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217920" y="233172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in ad spend tested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exclusively 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reverse mortgages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6766560" y="3520440"/>
            <a:ext cx="1554480" cy="0"/>
          </a:xfrm>
          <a:prstGeom prst="straightConnector1">
            <a:avLst/>
          </a:prstGeom>
          <a:noFill/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6217920" y="365760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5E6C8"/>
                </a:solidFill>
                <a:latin typeface="Arial"/>
                <a:ea typeface="Arial"/>
                <a:cs typeface="Arial"/>
                <a:sym typeface="Arial"/>
              </a:rPr>
              <a:t>Not theory.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5E6C8"/>
                </a:solidFill>
                <a:latin typeface="Arial"/>
                <a:ea typeface="Arial"/>
                <a:cs typeface="Arial"/>
                <a:sym typeface="Arial"/>
              </a:rPr>
              <a:t>Battle-tested.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Waiz Media  ·  Client Onboarding Series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20040" y="9144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8973A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005840" y="16459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Reverse Mortgages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0040" y="1005840"/>
            <a:ext cx="4114800" cy="347472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02920" y="128016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industry doesn't have a demand problem.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3"/>
          <p:cNvCxnSpPr/>
          <p:nvPr/>
        </p:nvCxnSpPr>
        <p:spPr>
          <a:xfrm>
            <a:off x="594360" y="251460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/>
          <p:nvPr/>
        </p:nvSpPr>
        <p:spPr>
          <a:xfrm>
            <a:off x="502920" y="269748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F5E6C8"/>
                </a:solidFill>
                <a:latin typeface="Arial"/>
                <a:ea typeface="Arial"/>
                <a:cs typeface="Arial"/>
                <a:sym typeface="Arial"/>
              </a:rPr>
              <a:t>It has a marketing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F5E6C8"/>
                </a:solidFill>
                <a:latin typeface="Arial"/>
                <a:ea typeface="Arial"/>
                <a:cs typeface="Arial"/>
                <a:sym typeface="Arial"/>
              </a:rPr>
              <a:t>and education problem.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2920" y="36118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That's a marketer's dream.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709160" y="100584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709160" y="1005840"/>
            <a:ext cx="6400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892040" y="109728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The Product Is Incredible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892040" y="141732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Surrounded by misconceptions — not a lack of need.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09160" y="219456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709160" y="2194560"/>
            <a:ext cx="6400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892040" y="22860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Limitless Market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892040" y="260604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Millions of retirees who need this product and just haven't been reached correctly.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709160" y="338328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709160" y="3383280"/>
            <a:ext cx="64008" cy="10058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892040" y="347472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We Fix 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92040" y="379476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Education-first marketing changes the first impression at scale.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Waiz Media  ·  Client Onboarding Series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20040" y="9144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8973A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005840" y="16459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 Built — The Acquisition Engine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20040" y="960120"/>
            <a:ext cx="3886200" cy="100584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E8A0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57200" y="10241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222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22222"/>
                </a:solidFill>
                <a:latin typeface="Arial"/>
                <a:ea typeface="Arial"/>
                <a:cs typeface="Arial"/>
                <a:sym typeface="Arial"/>
              </a:rPr>
              <a:t>❌  What everyone else does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222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22222"/>
                </a:solidFill>
                <a:latin typeface="Arial"/>
                <a:ea typeface="Arial"/>
                <a:cs typeface="Arial"/>
                <a:sym typeface="Arial"/>
              </a:rPr>
              <a:t>Run stock image ads  ·  Drop leads in your inbox  ·  Disappear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37760" y="960120"/>
            <a:ext cx="3886200" cy="10058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81C7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074920" y="10241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✅  What Waiz does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74920" y="1371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Build a full acquisition engine  ·  Control every stage  ·  Stay accountable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rgbClr val="0F2044"/>
          </a:solidFill>
          <a:ln cap="flat" cmpd="sng" w="254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31520" y="221284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4"/>
          <p:cNvCxnSpPr/>
          <p:nvPr/>
        </p:nvCxnSpPr>
        <p:spPr>
          <a:xfrm>
            <a:off x="1527048" y="256032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4"/>
          <p:cNvSpPr/>
          <p:nvPr/>
        </p:nvSpPr>
        <p:spPr>
          <a:xfrm>
            <a:off x="320040" y="30175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0040" y="33375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Educational video content on Meta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450592" y="2194560"/>
            <a:ext cx="731520" cy="731520"/>
          </a:xfrm>
          <a:prstGeom prst="ellipse">
            <a:avLst/>
          </a:prstGeom>
          <a:solidFill>
            <a:srgbClr val="0F2044"/>
          </a:solidFill>
          <a:ln cap="flat" cmpd="sng" w="254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450592" y="221284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4"/>
          <p:cNvCxnSpPr/>
          <p:nvPr/>
        </p:nvCxnSpPr>
        <p:spPr>
          <a:xfrm>
            <a:off x="3246120" y="256032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4"/>
          <p:cNvSpPr/>
          <p:nvPr/>
        </p:nvSpPr>
        <p:spPr>
          <a:xfrm>
            <a:off x="2039112" y="30175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Qualify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039112" y="33375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Custom funnel filters high-intent leads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169664" y="2194560"/>
            <a:ext cx="731520" cy="731520"/>
          </a:xfrm>
          <a:prstGeom prst="ellipse">
            <a:avLst/>
          </a:prstGeom>
          <a:solidFill>
            <a:srgbClr val="0F2044"/>
          </a:solidFill>
          <a:ln cap="flat" cmpd="sng" w="254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169664" y="221284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4965192" y="256032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3758184" y="30175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758184" y="33375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5-min speed-to-lead outreach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888736" y="2194560"/>
            <a:ext cx="731520" cy="731520"/>
          </a:xfrm>
          <a:prstGeom prst="ellipse">
            <a:avLst/>
          </a:prstGeom>
          <a:solidFill>
            <a:srgbClr val="0F2044"/>
          </a:solidFill>
          <a:ln cap="flat" cmpd="sng" w="254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888736" y="221284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6684264" y="256032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4"/>
          <p:cNvSpPr/>
          <p:nvPr/>
        </p:nvSpPr>
        <p:spPr>
          <a:xfrm>
            <a:off x="5477256" y="30175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77256" y="33375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SDR team places warm appt on your calendar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607808" y="2194560"/>
            <a:ext cx="731520" cy="731520"/>
          </a:xfrm>
          <a:prstGeom prst="ellipse">
            <a:avLst/>
          </a:prstGeom>
          <a:solidFill>
            <a:srgbClr val="0F2044"/>
          </a:solidFill>
          <a:ln cap="flat" cmpd="sng" w="254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607808" y="2212848"/>
            <a:ext cx="731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196328" y="30175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196328" y="33375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CRM + AI nurture converts leads to closed loans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0040" y="4206240"/>
            <a:ext cx="8503920" cy="64008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02920" y="42793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rPr>
              <a:t>We are not a lead vendor. We are your acquisition partner. The difference is everything.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20040" y="4910328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Waiz Media  ·  Client Onboarding Series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20040" y="9144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8973A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05840" y="16459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Comes Next — Your First Steps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20040" y="960120"/>
            <a:ext cx="411480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20040" y="960120"/>
            <a:ext cx="4114800" cy="45720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📚  Complete These Modules In Order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7200" y="1554480"/>
            <a:ext cx="329184" cy="329184"/>
          </a:xfrm>
          <a:prstGeom prst="ellipse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57200" y="15544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68680" y="155448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920240" y="155448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Lead Lifecycle — the full A-to-Z system. Start here.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2176272"/>
            <a:ext cx="329184" cy="329184"/>
          </a:xfrm>
          <a:prstGeom prst="ellipse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57200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68680" y="217627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Module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920240" y="2176272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CRM Infrastructure — know your cockpit before you fly.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2798064"/>
            <a:ext cx="329184" cy="329184"/>
          </a:xfrm>
          <a:prstGeom prst="ellipse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57200" y="279806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68680" y="279806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Module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920240" y="279806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Maximizing Your Show 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7200" y="3419856"/>
            <a:ext cx="329184" cy="329184"/>
          </a:xfrm>
          <a:prstGeom prst="ellipse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68680" y="341985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Module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920240" y="341985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Dispositions — the right way to work your pipeline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57200" y="4041648"/>
            <a:ext cx="329184" cy="329184"/>
          </a:xfrm>
          <a:prstGeom prst="ellipse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57200" y="40416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04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0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68680" y="40416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Module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920240" y="404164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Using AI Follow-Up to Your Advantage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C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🤝  Show Up in the Community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846320" y="15087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8973A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Introduce yourself — name, background, what you're building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846320" y="18928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8973A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Ask questions. Help others. Be proactive.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846320" y="227685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8973A"/>
                </a:solidFill>
                <a:latin typeface="Arial"/>
                <a:ea typeface="Arial"/>
                <a:cs typeface="Arial"/>
                <a:sym typeface="Arial"/>
              </a:rPr>
              <a:t>→ 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Contribute → rank up → unlock tools, coaching &amp; prizes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0F2044"/>
          </a:solidFill>
          <a:ln cap="flat" cmpd="sng" w="12700">
            <a:solidFill>
              <a:srgbClr val="0F20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709160" y="2926080"/>
            <a:ext cx="64008" cy="192024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892040" y="306324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This isn't just a course.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892040" y="3566160"/>
            <a:ext cx="3794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It's a community of LOs building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CF2"/>
                </a:solidFill>
                <a:latin typeface="Arial"/>
                <a:ea typeface="Arial"/>
                <a:cs typeface="Arial"/>
                <a:sym typeface="Arial"/>
              </a:rPr>
              <a:t>predictable, scalable businesses.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892040" y="429768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5E6C8"/>
                </a:solidFill>
                <a:latin typeface="Arial"/>
                <a:ea typeface="Arial"/>
                <a:cs typeface="Arial"/>
                <a:sym typeface="Arial"/>
              </a:rPr>
              <a:t>The more you put in — the more you get 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20040" y="4910328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Waiz Media  ·  Client Onboarding Series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3A"/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65760" y="27432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73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C8973A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 Black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Trust The Process.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6"/>
          <p:cNvCxnSpPr/>
          <p:nvPr/>
        </p:nvCxnSpPr>
        <p:spPr>
          <a:xfrm>
            <a:off x="365760" y="219456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6"/>
          <p:cNvSpPr/>
          <p:nvPr/>
        </p:nvSpPr>
        <p:spPr>
          <a:xfrm>
            <a:off x="365760" y="2468880"/>
            <a:ext cx="2651760" cy="1417320"/>
          </a:xfrm>
          <a:prstGeom prst="rect">
            <a:avLst/>
          </a:prstGeom>
          <a:solidFill>
            <a:srgbClr val="1E3A6E">
              <a:alpha val="80000"/>
            </a:srgbClr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65760" y="2514600"/>
            <a:ext cx="26517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Show 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 your calls.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246120" y="2468880"/>
            <a:ext cx="2651760" cy="1417320"/>
          </a:xfrm>
          <a:prstGeom prst="rect">
            <a:avLst/>
          </a:prstGeom>
          <a:solidFill>
            <a:srgbClr val="1E3A6E">
              <a:alpha val="80000"/>
            </a:srgbClr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246120" y="2514600"/>
            <a:ext cx="26517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E6C8"/>
                </a:solidFill>
                <a:latin typeface="Arial Black"/>
                <a:ea typeface="Arial Black"/>
                <a:cs typeface="Arial Black"/>
                <a:sym typeface="Arial Black"/>
              </a:rPr>
              <a:t>Disposition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5E6C8"/>
                </a:solidFill>
                <a:latin typeface="Arial Black"/>
                <a:ea typeface="Arial Black"/>
                <a:cs typeface="Arial Black"/>
                <a:sym typeface="Arial Black"/>
              </a:rPr>
              <a:t>your leads.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126480" y="2468880"/>
            <a:ext cx="2651760" cy="1417320"/>
          </a:xfrm>
          <a:prstGeom prst="rect">
            <a:avLst/>
          </a:prstGeom>
          <a:solidFill>
            <a:srgbClr val="1E3A6E">
              <a:alpha val="80000"/>
            </a:srgbClr>
          </a:solidFill>
          <a:ln cap="flat" cmpd="sng" w="12700">
            <a:solidFill>
              <a:srgbClr val="C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126480" y="2514600"/>
            <a:ext cx="26517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your pipeline.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5760" y="40690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F5E6C8"/>
                </a:solidFill>
                <a:latin typeface="Arial"/>
                <a:ea typeface="Arial"/>
                <a:cs typeface="Arial"/>
                <a:sym typeface="Arial"/>
              </a:rPr>
              <a:t>Do those three things. The system does the rest.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65760" y="455371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You made a great decision. Let's put it to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2026-03-15T17:50:54Z</dcterms:created>
  <dc:creator>PptxGenJS</dc:creator>
</cp:coreProperties>
</file>