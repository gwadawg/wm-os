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5143500" cy="9144000"/>
  <p:embeddedFontLst>
    <p:embeddedFont>
      <p:font typeface="Roboto"/>
      <p:regular r:id="rId9"/>
      <p:bold r:id="rId10"/>
      <p:italic r:id="rId11"/>
      <p:boldItalic r:id="rId12"/>
    </p:embeddedFont>
    <p:embeddedFont>
      <p:font typeface="Playfair Display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u1NlEndauLafUbni5YUgQUB/M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3" Type="http://schemas.openxmlformats.org/officeDocument/2006/relationships/font" Target="fonts/PlayfairDisplay-regular.fntdata"/><Relationship Id="rId12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oboto-regular.fntdata"/><Relationship Id="rId15" Type="http://schemas.openxmlformats.org/officeDocument/2006/relationships/font" Target="fonts/PlayfairDisplay-italic.fntdata"/><Relationship Id="rId14" Type="http://schemas.openxmlformats.org/officeDocument/2006/relationships/font" Target="fonts/PlayfairDisplay-bold.fntdata"/><Relationship Id="rId17" Type="http://customschemas.google.com/relationships/presentationmetadata" Target="metadata"/><Relationship Id="rId16" Type="http://schemas.openxmlformats.org/officeDocument/2006/relationships/font" Target="fonts/PlayfairDisplay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428625" y="1513052"/>
            <a:ext cx="5177768" cy="113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611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3731"/>
              <a:buFont typeface="Playfair Display"/>
              <a:buNone/>
            </a:pPr>
            <a:r>
              <a:rPr b="1" i="0" lang="en-US" sz="3731" u="none" cap="none" strike="noStrike">
                <a:solidFill>
                  <a:srgbClr val="BADB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Today's Onboarding Agenda</a:t>
            </a:r>
            <a:endParaRPr b="0" i="0" sz="37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28625" y="2858923"/>
            <a:ext cx="4142203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69"/>
              <a:buFont typeface="Roboto"/>
              <a:buNone/>
            </a:pPr>
            <a:r>
              <a:rPr b="0" i="0" lang="en-US" sz="1269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We've structured this call to ensure you're fully prepared and confident moving forward. We are your strategic partners in growth.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035073" y="0"/>
            <a:ext cx="3108954" cy="5143500"/>
          </a:xfrm>
          <a:prstGeom prst="rect">
            <a:avLst/>
          </a:prstGeom>
          <a:solidFill>
            <a:srgbClr val="1C2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035073" y="0"/>
            <a:ext cx="14288" cy="5143500"/>
          </a:xfrm>
          <a:prstGeom prst="rect">
            <a:avLst/>
          </a:prstGeom>
          <a:solidFill>
            <a:srgbClr val="BAD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320823" y="1271588"/>
            <a:ext cx="285750" cy="285750"/>
          </a:xfrm>
          <a:prstGeom prst="ellipse">
            <a:avLst/>
          </a:prstGeom>
          <a:solidFill>
            <a:srgbClr val="BAD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" name="Google Shape;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3331" y="1350169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6749448" y="1232297"/>
            <a:ext cx="1434108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Phase 1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749448" y="1455539"/>
            <a:ext cx="1434108" cy="1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Call Opening &amp; Expectations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320823" y="1850231"/>
            <a:ext cx="285750" cy="285750"/>
          </a:xfrm>
          <a:prstGeom prst="ellipse">
            <a:avLst/>
          </a:prstGeom>
          <a:solidFill>
            <a:srgbClr val="BAD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" name="Google Shape;2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7441" y="1928813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6749448" y="1810941"/>
            <a:ext cx="1407319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Phase 2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749448" y="2034183"/>
            <a:ext cx="1407319" cy="1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CRM &amp; Calendar Integration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320823" y="2428875"/>
            <a:ext cx="285750" cy="285750"/>
          </a:xfrm>
          <a:prstGeom prst="ellipse">
            <a:avLst/>
          </a:prstGeom>
          <a:solidFill>
            <a:srgbClr val="BAD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7441" y="2507456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6749448" y="2389584"/>
            <a:ext cx="1334095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Phase 3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749448" y="2612827"/>
            <a:ext cx="1334095" cy="1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Get You Logged into Slack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320823" y="3007519"/>
            <a:ext cx="285750" cy="285750"/>
          </a:xfrm>
          <a:prstGeom prst="ellipse">
            <a:avLst/>
          </a:prstGeom>
          <a:solidFill>
            <a:srgbClr val="BAD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9405" y="3086100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/>
          <p:nvPr/>
        </p:nvSpPr>
        <p:spPr>
          <a:xfrm>
            <a:off x="6749448" y="2968228"/>
            <a:ext cx="1310878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Phase 4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749448" y="3191470"/>
            <a:ext cx="1310878" cy="1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Facebook Business Setup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320823" y="3586163"/>
            <a:ext cx="285750" cy="285750"/>
          </a:xfrm>
          <a:prstGeom prst="ellipse">
            <a:avLst/>
          </a:prstGeom>
          <a:solidFill>
            <a:srgbClr val="BAD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9405" y="3664744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"/>
          <p:cNvSpPr/>
          <p:nvPr/>
        </p:nvSpPr>
        <p:spPr>
          <a:xfrm>
            <a:off x="6749448" y="3546872"/>
            <a:ext cx="1478756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Phase 5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749448" y="3770114"/>
            <a:ext cx="1478756" cy="1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Confirming Info &amp; Scheduling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650456" y="0"/>
            <a:ext cx="7144" cy="5143500"/>
          </a:xfrm>
          <a:prstGeom prst="rect">
            <a:avLst/>
          </a:prstGeom>
          <a:solidFill>
            <a:srgbClr val="BAD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57188" y="812992"/>
            <a:ext cx="2943225" cy="1760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2862"/>
              <a:buFont typeface="Playfair Display"/>
              <a:buNone/>
            </a:pPr>
            <a:r>
              <a:rPr b="1" i="0" lang="en-US" sz="2862" u="none" cap="none" strike="noStrike">
                <a:solidFill>
                  <a:srgbClr val="BADB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We're Here to Build Your Acquisition Engine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57188" y="3058783"/>
            <a:ext cx="29433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562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159"/>
              <a:buFont typeface="Roboto"/>
              <a:buNone/>
            </a:pPr>
            <a:r>
              <a:rPr b="0" i="0" lang="en-US" sz="1159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At Waiz Media, we exist to modernize how reverse mortgages are marketed, understood, and sold. We don't just provide leads—we provide the complete infrastructure to succeed.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C2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086225" y="1738610"/>
            <a:ext cx="4629150" cy="1380530"/>
          </a:xfrm>
          <a:prstGeom prst="rect">
            <a:avLst/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086225" y="1738610"/>
            <a:ext cx="28575" cy="1380530"/>
          </a:xfrm>
          <a:prstGeom prst="rect">
            <a:avLst/>
          </a:prstGeom>
          <a:solidFill>
            <a:srgbClr val="BAD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300538" y="1952923"/>
            <a:ext cx="4200525" cy="266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1397"/>
              <a:buFont typeface="Playfair Display"/>
              <a:buNone/>
            </a:pPr>
            <a:r>
              <a:rPr b="1" i="0" lang="en-US" sz="1397" u="none" cap="none" strike="noStrike">
                <a:solidFill>
                  <a:srgbClr val="BADB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Core Belief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300538" y="2326184"/>
            <a:ext cx="4200525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The primary constraint in your business is not skill, rates, or products. It's </a:t>
            </a:r>
            <a:r>
              <a:rPr b="1" i="0" lang="en-US" sz="885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volume &amp; systems</a:t>
            </a:r>
            <a:r>
              <a:rPr b="0" i="0" lang="en-US" sz="942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. We solve for volume at scale while building trust simultaneously.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571500" y="428625"/>
            <a:ext cx="8001000" cy="1064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2862"/>
              <a:buFont typeface="Playfair Display"/>
              <a:buNone/>
            </a:pPr>
            <a:r>
              <a:rPr b="1" i="0" lang="en-US" sz="2862" u="none" cap="none" strike="noStrike">
                <a:solidFill>
                  <a:srgbClr val="BADB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Complete Support &amp; Infrastructure System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714500" y="1635919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69"/>
              <a:buFont typeface="Roboto"/>
              <a:buNone/>
            </a:pPr>
            <a:r>
              <a:rPr b="0" i="0" lang="en-US" sz="1269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As a Waiz Media partner, you gain access to a comprehensive ecosystem designed to support your success.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24387" y="2293144"/>
            <a:ext cx="2571750" cy="2778919"/>
          </a:xfrm>
          <a:prstGeom prst="rect">
            <a:avLst/>
          </a:prstGeom>
          <a:solidFill>
            <a:srgbClr val="1C2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524387" y="2293144"/>
            <a:ext cx="2571750" cy="28575"/>
          </a:xfrm>
          <a:prstGeom prst="rect">
            <a:avLst/>
          </a:prstGeom>
          <a:solidFill>
            <a:srgbClr val="BAD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112" y="2387798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610112" y="2650331"/>
            <a:ext cx="17377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Playfair Display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Private Slack Channel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10112" y="2936081"/>
            <a:ext cx="240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Real-time support for strategy and technical help.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286125" y="2293144"/>
            <a:ext cx="2571750" cy="2778919"/>
          </a:xfrm>
          <a:prstGeom prst="rect">
            <a:avLst/>
          </a:prstGeom>
          <a:solidFill>
            <a:srgbClr val="1C2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286125" y="2293144"/>
            <a:ext cx="2571750" cy="28575"/>
          </a:xfrm>
          <a:prstGeom prst="rect">
            <a:avLst/>
          </a:prstGeom>
          <a:solidFill>
            <a:srgbClr val="BAD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1850" y="2387798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3371850" y="2650331"/>
            <a:ext cx="22092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Playfair Display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Custom CRM &amp; Automation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371850" y="2936081"/>
            <a:ext cx="240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Niche CRM with 24/7 AI follow-up to qualify leads.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000750" y="2293144"/>
            <a:ext cx="2571750" cy="2778919"/>
          </a:xfrm>
          <a:prstGeom prst="rect">
            <a:avLst/>
          </a:prstGeom>
          <a:solidFill>
            <a:srgbClr val="1C2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000750" y="2293144"/>
            <a:ext cx="2571750" cy="28575"/>
          </a:xfrm>
          <a:prstGeom prst="rect">
            <a:avLst/>
          </a:prstGeom>
          <a:solidFill>
            <a:srgbClr val="BAD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86475" y="2387798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6086475" y="2650331"/>
            <a:ext cx="196810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Playfair Display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Comprehensive Training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086475" y="2936081"/>
            <a:ext cx="240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Concise courses to master the system and grow your team.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285750" y="428625"/>
            <a:ext cx="8572500" cy="532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2862"/>
              <a:buFont typeface="Playfair Display"/>
              <a:buNone/>
            </a:pPr>
            <a:r>
              <a:rPr b="1" i="0" lang="en-US" sz="2862" u="none" cap="none" strike="noStrike">
                <a:solidFill>
                  <a:srgbClr val="BADBFC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From Today to Launch: Your Path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85750" y="1103709"/>
            <a:ext cx="857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69"/>
              <a:buFont typeface="Roboto"/>
              <a:buNone/>
            </a:pPr>
            <a:r>
              <a:rPr b="0" i="0" lang="en-US" sz="1269" u="none" cap="none" strike="noStrike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We've engineered this process to move quickly without cutting corners.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50119" y="2160984"/>
            <a:ext cx="385763" cy="385763"/>
          </a:xfrm>
          <a:prstGeom prst="ellipse">
            <a:avLst/>
          </a:prstGeom>
          <a:solidFill>
            <a:srgbClr val="BADBFC"/>
          </a:solidFill>
          <a:ln cap="flat" cmpd="sng" w="27425">
            <a:solidFill>
              <a:srgbClr val="BADB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1101923" y="2269927"/>
            <a:ext cx="82153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30E47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030E47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765274" y="1839516"/>
            <a:ext cx="755452" cy="1875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65274" y="1839516"/>
            <a:ext cx="755452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51050" lIns="102100" spcFirstLastPara="1" rIns="102100" wrap="square" tIns="51050">
            <a:sp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030E47"/>
              </a:buClr>
              <a:buSzPts val="584"/>
              <a:buFont typeface="Roboto"/>
              <a:buNone/>
            </a:pPr>
            <a:r>
              <a:rPr b="1" i="0" lang="en-US" sz="584" u="none" cap="none" strike="noStrike">
                <a:solidFill>
                  <a:srgbClr val="030E47"/>
                </a:solidFill>
                <a:latin typeface="Roboto"/>
                <a:ea typeface="Roboto"/>
                <a:cs typeface="Roboto"/>
                <a:sym typeface="Roboto"/>
              </a:rPr>
              <a:t>YOU ARE HERE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50081" y="2689622"/>
            <a:ext cx="9858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Playfair Display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Onboarding Call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984945" y="3061097"/>
            <a:ext cx="316111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TODAY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71500" y="3236119"/>
            <a:ext cx="1143000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Setting expectations &amp; connecting systems.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321719" y="2160984"/>
            <a:ext cx="385763" cy="385763"/>
          </a:xfrm>
          <a:prstGeom prst="ellipse">
            <a:avLst/>
          </a:prstGeom>
          <a:solidFill>
            <a:srgbClr val="030E47"/>
          </a:solidFill>
          <a:ln cap="flat" cmpd="sng" w="27425">
            <a:solidFill>
              <a:srgbClr val="BADB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2321719" y="2160984"/>
            <a:ext cx="38576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116336" y="2689622"/>
            <a:ext cx="79652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Playfair Display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A2P Approval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302073" y="3061097"/>
            <a:ext cx="425053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2-6 DAYS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943100" y="3236119"/>
            <a:ext cx="1143000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Carrier approval for messaging infrastructure.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693319" y="2160984"/>
            <a:ext cx="385763" cy="385763"/>
          </a:xfrm>
          <a:prstGeom prst="ellipse">
            <a:avLst/>
          </a:prstGeom>
          <a:solidFill>
            <a:srgbClr val="030E47"/>
          </a:solidFill>
          <a:ln cap="flat" cmpd="sng" w="27425">
            <a:solidFill>
              <a:srgbClr val="BADB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693319" y="2160984"/>
            <a:ext cx="38576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371850" y="2689622"/>
            <a:ext cx="10287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Playfair Display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System Build Out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673673" y="3061097"/>
            <a:ext cx="425053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3-5 DAYS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314700" y="3236119"/>
            <a:ext cx="1143000" cy="42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Ads, landing pages, training our team &amp; automation setup.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064919" y="2160984"/>
            <a:ext cx="385763" cy="385763"/>
          </a:xfrm>
          <a:prstGeom prst="ellipse">
            <a:avLst/>
          </a:prstGeom>
          <a:solidFill>
            <a:srgbClr val="030E47"/>
          </a:solidFill>
          <a:ln cap="flat" cmpd="sng" w="27425">
            <a:solidFill>
              <a:srgbClr val="BADB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064919" y="2160984"/>
            <a:ext cx="38576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24710" y="2689622"/>
            <a:ext cx="8661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Playfair Display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Final Approval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015805" y="3061097"/>
            <a:ext cx="483989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SAME DAY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686300" y="3236119"/>
            <a:ext cx="1143000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Quality check &amp; compliance audit.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436519" y="2160984"/>
            <a:ext cx="385763" cy="385763"/>
          </a:xfrm>
          <a:prstGeom prst="ellipse">
            <a:avLst/>
          </a:prstGeom>
          <a:solidFill>
            <a:srgbClr val="030E47"/>
          </a:solidFill>
          <a:ln cap="flat" cmpd="sng" w="27425">
            <a:solidFill>
              <a:srgbClr val="BADB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436519" y="2160984"/>
            <a:ext cx="38576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273998" y="2689622"/>
            <a:ext cx="71080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Playfair Display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Launch Call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317754" y="3061097"/>
            <a:ext cx="623292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PRE-LAUNCH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057900" y="3236119"/>
            <a:ext cx="1143000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Review campaigns &amp; final Q&amp;A.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808119" y="2160984"/>
            <a:ext cx="385763" cy="385763"/>
          </a:xfrm>
          <a:prstGeom prst="ellipse">
            <a:avLst/>
          </a:prstGeom>
          <a:solidFill>
            <a:srgbClr val="030E47"/>
          </a:solidFill>
          <a:ln cap="flat" cmpd="sng" w="27425">
            <a:solidFill>
              <a:srgbClr val="BADB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7808119" y="2160984"/>
            <a:ext cx="38576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731323" y="2689622"/>
            <a:ext cx="5393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Playfair Display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LAUNCH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7817048" y="3061097"/>
            <a:ext cx="367903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683"/>
              <a:buFont typeface="Roboto"/>
              <a:buNone/>
            </a:pPr>
            <a:r>
              <a:rPr b="1" i="0" lang="en-US" sz="683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GO LIVE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429500" y="3236119"/>
            <a:ext cx="1143000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Acquisition engine is live. Leads flow.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652617" y="4261247"/>
            <a:ext cx="2062758" cy="596503"/>
          </a:xfrm>
          <a:prstGeom prst="rect">
            <a:avLst/>
          </a:prstGeom>
          <a:solidFill>
            <a:srgbClr val="1C2B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652617" y="4261247"/>
            <a:ext cx="28575" cy="596503"/>
          </a:xfrm>
          <a:prstGeom prst="rect">
            <a:avLst/>
          </a:prstGeom>
          <a:solidFill>
            <a:srgbClr val="BAD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895505" y="4368403"/>
            <a:ext cx="1605558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ADBFC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BADBFC"/>
                </a:solidFill>
                <a:latin typeface="Roboto"/>
                <a:ea typeface="Roboto"/>
                <a:cs typeface="Roboto"/>
                <a:sym typeface="Roboto"/>
              </a:rPr>
              <a:t>TOTAL ESTIMATED TIMELINE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895505" y="4521994"/>
            <a:ext cx="16055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Playfair Display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6-10 Days to Launch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2026-03-12T19:57:28Z</dcterms:created>
  <dc:creator>PptxGenJS</dc:creator>
</cp:coreProperties>
</file>